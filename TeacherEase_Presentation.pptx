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14213D"/>
                </a:solidFill>
                <a:latin typeface="Georgia"/>
              </a:rPr>
              <a:t>TeacherEase</a:t>
            </a:r>
          </a:p>
          <a:p>
            <a:pPr algn="l"/>
            <a:r>
              <a:rPr sz="1700">
                <a:solidFill>
                  <a:srgbClr val="242934"/>
                </a:solidFill>
                <a:latin typeface="Segoe UI"/>
              </a:rPr>
              <a:t>Automated Question Paper Generation System with Cycle-Aware Non-Repetition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78"/>
                </a:solidFill>
                <a:latin typeface="Segoe UI"/>
              </a:rPr>
              <a:t>Department of Computer Science &amp; Engineering</a:t>
            </a:r>
          </a:p>
          <a:p>
            <a:r>
              <a:rPr sz="1200">
                <a:solidFill>
                  <a:srgbClr val="606B78"/>
                </a:solidFill>
                <a:latin typeface="Segoe UI"/>
              </a:rPr>
              <a:t>P. R. Pote Patil College of Engineering &amp;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65960"/>
            <a:ext cx="3200400" cy="2194560"/>
          </a:xfrm>
          <a:prstGeom prst="roundRect">
            <a:avLst/>
          </a:prstGeom>
          <a:solidFill>
            <a:srgbClr val="E7ECF5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2402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14213D"/>
                </a:solidFill>
                <a:latin typeface="Georgia"/>
              </a:rPr>
              <a:t>Project Guide</a:t>
            </a:r>
          </a:p>
          <a:p>
            <a:pPr algn="ctr"/>
            <a:r>
              <a:rPr sz="1400">
                <a:solidFill>
                  <a:srgbClr val="14213D"/>
                </a:solidFill>
                <a:latin typeface="Georgia"/>
              </a:rPr>
              <a:t>Prof. Mayur S. Bhurange</a:t>
            </a:r>
          </a:p>
          <a:p>
            <a:pPr algn="ctr"/>
            <a:r>
              <a:rPr sz="1100">
                <a:solidFill>
                  <a:srgbClr val="606B78"/>
                </a:solidFill>
                <a:latin typeface="Segoe UI"/>
              </a:rPr>
              <a:t>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1. The Problem We Solved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Manual paper setting is slow, repetitive, and risky.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4023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91056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Why the current process fails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Teachers rely on personal notes, printed lists, and scattered drafts.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Repeated questions often appear between regular and backlog papers in the same cycle.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Syllabus coverage becomes uneven and difficult to audit.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Confidential papers circulate through email and removable media.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Late detection of insufficient bank questions creates exam stress.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303520" cy="4023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591056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Impact on departments and examinations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Wasted faculty time in formatting, duplication, and correction.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Higher risk of unfair examination due to repeated questions.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Loss of institutional knowledge when faculty or records change.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No tamper-evident record of who generated or changed what.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Difficulty in maintaining a consistent, standard paper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2. Cost of Manual Question Paper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real cost is not only time—it is quality, fairness, and confidentiality.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286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Hours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per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286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64208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0%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cycle-safe repetition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2286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664208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High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manual error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554480"/>
            <a:ext cx="2286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1664208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Risk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confidentiality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972800" cy="2377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02736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Manual drafting requires repeated selection, review, formatting, and final proofing before every exam.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Without a central question bank, departmental memory is fragmented across faculty and files.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Repeated questions in the same cycle undermine exam fairness for normal, backlog, and repeat candidates.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Paper setters must spend significant effort re-creating a standard header, instructions, and marks table each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3. TeacherEase 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A secure, role-based platform for standardised and fair paper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4213D"/>
                </a:solidFill>
                <a:latin typeface="Georgia"/>
              </a:rPr>
              <a:t>Central Question Bank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Unit-wise storage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Marks, BTL, CO tags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Active/inactive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64208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4213D"/>
                </a:solidFill>
                <a:latin typeface="Georgia"/>
              </a:rPr>
              <a:t>Reusable Blueprints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JSON-based pattern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Mark-wise and unit-wise rules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Reusable across subjects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64208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4213D"/>
                </a:solidFill>
                <a:latin typeface="Georgia"/>
              </a:rPr>
              <a:t>Secure Generation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Cycle-aware exclusion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Transaction safety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242934"/>
                </a:solidFill>
                <a:latin typeface="Segoe UI"/>
              </a:rPr>
              <a:t>Audit logging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1024128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242816"/>
            <a:ext cx="9966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Teachers add and maintain questions in a controlled bank.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system applies a fixed blueprint and validates the bank before generation.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database enforces selection rules, so the browser never receives the full candidate pool.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4. 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From question entry to final export in a single controlled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1. Teacher logs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057400"/>
            <a:ext cx="219456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8688" y="2167128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2. Maintain question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51760"/>
            <a:ext cx="22860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8" y="2761488"/>
            <a:ext cx="20665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3. Select format, cycle, variant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291840"/>
            <a:ext cx="219456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3401568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4. Generate paper securely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251960"/>
            <a:ext cx="2468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4361688"/>
            <a:ext cx="22494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5. Validate sufficiency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892040"/>
            <a:ext cx="29260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5001768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6. Export as Word / PDF /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792224"/>
            <a:ext cx="411480" cy="265176"/>
          </a:xfrm>
          <a:prstGeom prst="rect">
            <a:avLst/>
          </a:prstGeom>
          <a:noFill/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2377440"/>
            <a:ext cx="365760" cy="274320"/>
          </a:xfrm>
          <a:prstGeom prst="rect">
            <a:avLst/>
          </a:prstGeom>
          <a:noFill/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3182112"/>
            <a:ext cx="274321" cy="109728"/>
          </a:xfrm>
          <a:prstGeom prst="rect">
            <a:avLst/>
          </a:prstGeom>
          <a:noFill/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4617720"/>
            <a:ext cx="548640" cy="274320"/>
          </a:xfrm>
          <a:prstGeom prst="rect">
            <a:avLst/>
          </a:prstGeom>
          <a:noFill/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5. Cycle-Aware Non-Repetition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strongest guarantee is enforced at the database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03520" cy="3840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82496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Core rule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Every generated question is recorded against an exam cycle.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next paper in the same cycle excludes those question IDs before selection.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This prevents overlap between regular and backlog papers instead of depending on human memory.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safeguard is part of the query itself and holds even if the client is misused.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This preserves fairness while keeping the selection process deterministic and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389120" cy="2377440"/>
          </a:xfrm>
          <a:prstGeom prst="roundRect">
            <a:avLst/>
          </a:prstGeom>
          <a:solidFill>
            <a:srgbClr val="F7E9EB"/>
          </a:solidFill>
          <a:ln w="1778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4213D"/>
                </a:solidFill>
                <a:latin typeface="Georgia"/>
              </a:rPr>
              <a:t>Regular paper</a:t>
            </a:r>
            <a:br/>
            <a:r>
              <a:t>Q1, Q7, Q18</a:t>
            </a:r>
          </a:p>
          <a:p>
            <a:pPr algn="ctr"/>
            <a:r>
              <a:rPr sz="1100">
                <a:solidFill>
                  <a:srgbClr val="242934"/>
                </a:solidFill>
                <a:latin typeface="Segoe UI"/>
              </a:rPr>
              <a:t>Backlog paper</a:t>
            </a:r>
            <a:br/>
            <a:r>
              <a:t>Excludes these IDs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6. Selection Algorithm Filter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database filters candidates before any randomization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2763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Subject filter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Restrict to the target subject and active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2763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Unit filter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Limit to the required unit or blueprint slot.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55448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62763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Mark filter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Match the required mark value and question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62763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Cycle exclusion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Remove questions already issued in the same exam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47472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354787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Sufficiency check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Abort if required candidates are below the minimum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474720"/>
            <a:ext cx="2286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547872"/>
            <a:ext cx="206654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4213D"/>
                </a:solidFill>
                <a:latin typeface="Georgia"/>
              </a:rPr>
              <a:t>Random top-N</a:t>
            </a:r>
          </a:p>
          <a:p>
            <a:r>
              <a:rPr sz="950">
                <a:solidFill>
                  <a:srgbClr val="242934"/>
                </a:solidFill>
                <a:latin typeface="Segoe UI"/>
              </a:rPr>
              <a:t>Order by random() and select exactly N questions for the slot.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03520"/>
            <a:ext cx="97840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431536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This chain ensures that the selection is valid, fair, and safe before inserting the paper.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7. Validation and Quality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system validates before and after generation to prevent weak or invalid papers.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9377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Validation rules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Question bank sufficiency is checked before writing the paper.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Unit-wise and mark-wise counts are verified against the blueprint.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Randomization is tested repeatedly to confirm even distribution across eligible questions.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Regular and backlog papers are generated in the same cycle to confirm zero overlap.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system aborts and rolls back if any requirement fails, leaving no partial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773936"/>
            <a:ext cx="47548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Governance and control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Teacher access is restricted to allotted subjects using role-scoped rules.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Admins can review all papers, all subjects, and audit entries.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Export files are compared for content consistency across Word, PDF, and image outputs.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app keeps question text out of the visible screen during generation.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Audit logs ensure the generation record is append-only and traceable.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8.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Layered architecture with secure database enforcement at the core.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9. Paper Generation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process is linear, validated, and protected by transaction-level checks.</a:t>
            </a:r>
          </a:p>
        </p:txBody>
      </p:sp>
      <p:pic>
        <p:nvPicPr>
          <p:cNvPr id="5" name="Picture 4" descr="fig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10.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A light, dependable stack built for academic workflow and role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Frontend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React + React Router + single-page role-based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6420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Authentication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Supabase Auth + JWT + profile-based role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Database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Supabase PostgreSQL + Row Level Security + JSONB blueprints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31012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Business Logic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PL/pgSQL SECURITY DEFINER functions and triggers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95604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Export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html2canvas + jsPDF + FileSaver for Word/PDF/image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846320"/>
            <a:ext cx="475488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956048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4213D"/>
                </a:solidFill>
                <a:latin typeface="Georgia"/>
              </a:rPr>
              <a:t>DevOps</a:t>
            </a:r>
          </a:p>
          <a:p>
            <a:r>
              <a:rPr sz="1000">
                <a:solidFill>
                  <a:srgbClr val="242934"/>
                </a:solidFill>
                <a:latin typeface="Segoe UI"/>
              </a:rPr>
              <a:t>GitHub, collaboration, version control, reproducible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11. Security and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Trust is built into the data layer, not only the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02920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82496"/>
            <a:ext cx="47548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Access control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Supabase Auth validates identity and issues JWT-based sessions.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Role resolution separates admin and teacher responsibilities.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Row Level Security restricts teachers to their allotted subjects.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Each paper generation runs inside one database transaction.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Audit entries are append-only and survive deletion of related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2064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82496"/>
            <a:ext cx="48463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Security guarantees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browser never receives the question pool used for generation.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Question text remains in the export file, not in the visible interface.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server sovereignly decides what is valid and what should fail.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This reduces attack surface and helps maintain integrity under misuse.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result is a stronger governance model for examination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12. Institutional Impact &amp;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platform is designed to scale from a single department to a wider academic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0116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47088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1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department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20116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847088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2+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737360"/>
            <a:ext cx="20116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847088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100%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737360"/>
            <a:ext cx="20116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847088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A61926"/>
                </a:solidFill>
                <a:latin typeface="Georgia"/>
              </a:rPr>
              <a:t>3</a:t>
            </a:r>
          </a:p>
          <a:p>
            <a:pPr algn="ctr"/>
            <a:r>
              <a:rPr sz="1000">
                <a:solidFill>
                  <a:srgbClr val="606B78"/>
                </a:solidFill>
                <a:latin typeface="Segoe UI"/>
              </a:rPr>
              <a:t>export formats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77055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Reduces clerical effort for every paper generation cycle.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Improves fairness by eliminating question repetition within an exam cycle.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Strengthens confidentiality by keeping generated questions out of the visible interface.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Creates institutional memory through preserved question banks and auditable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13. Competitor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TeacherEase is designed for department-level practicality, not just isolated paper generation.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Segoe UI"/>
                        </a:rPr>
                        <a:t>Manual workflow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Segoe UI"/>
                        </a:rPr>
                        <a:t>Generic random generators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Segoe UI"/>
                        </a:rPr>
                        <a:t>TeacherEase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Manual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Generic random generators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TeacherEase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Cycle-aware repetition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Role-based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Syllabus rule 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Database enforced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Absent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Append-only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Export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934"/>
                          </a:solidFill>
                          <a:latin typeface="Segoe UI"/>
                        </a:rPr>
                        <a:t>Single source /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14. 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The current version is practical and secure; the roadmap extends it further.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3657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73936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Current limitations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question bank is currently seeded for one subject rather than a full institute-wide repository.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Bulk import of questions and data cleaning remains a next-step improvement.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Math and diagrammatic question support needs stronger formatting and rendering rules.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The process can extend to faculty dashboards, analytics, and institutional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3657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773936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213D"/>
                </a:solidFill>
                <a:latin typeface="Georgia"/>
              </a:rPr>
              <a:t>Roadmap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Expand to multiple departments and semesters with shared taxonomy standards.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Introduce bulk question uploads and CSV/Excel import features.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Add analytics on difficulty, Bloom coverage, and question-bank utilization.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42934"/>
                </a:solidFill>
                <a:latin typeface="Segoe UI"/>
              </a:rPr>
              <a:t>Upgrade to deeper AI-assisted quality checks while preserving governance and auditability.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14213D"/>
                </a:solidFill>
                <a:latin typeface="Georgia"/>
              </a:rPr>
              <a:t>15.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064240" cy="73152"/>
          </a:xfrm>
          <a:prstGeom prst="rect">
            <a:avLst/>
          </a:prstGeom>
          <a:solidFill>
            <a:srgbClr val="A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B78"/>
                </a:solidFill>
                <a:latin typeface="Segoe UI"/>
              </a:rPr>
              <a:t>Student authors and guide for TeacherEase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2062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4213D"/>
                </a:solidFill>
                <a:latin typeface="Georgia"/>
              </a:rPr>
              <a:t>Project Guide</a:t>
            </a:r>
          </a:p>
          <a:p>
            <a:pPr algn="ctr"/>
            <a:r>
              <a:rPr sz="1300">
                <a:solidFill>
                  <a:srgbClr val="242934"/>
                </a:solidFill>
                <a:latin typeface="Segoe UI"/>
              </a:rPr>
              <a:t>Prof. Mayur S. Bhurange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6126480" cy="4023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>
                <a:solidFill>
                  <a:srgbClr val="242934"/>
                </a:solidFill>
                <a:latin typeface="Segoe UI"/>
              </a:rPr>
              <a:t>1. Pradyumna G. Kulkarni</a:t>
            </a:r>
          </a:p>
          <a:p>
            <a:pPr/>
            <a:r>
              <a:rPr sz="1200">
                <a:solidFill>
                  <a:srgbClr val="242934"/>
                </a:solidFill>
                <a:latin typeface="Segoe UI"/>
              </a:rPr>
              <a:t>2. Satchit Anil Dhawale</a:t>
            </a:r>
          </a:p>
          <a:p>
            <a:pPr/>
            <a:r>
              <a:rPr sz="1200">
                <a:solidFill>
                  <a:srgbClr val="242934"/>
                </a:solidFill>
                <a:latin typeface="Segoe UI"/>
              </a:rPr>
              <a:t>3. Yashwant Vijayrao Kirakte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4. Aarya Sanjay Kukade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5. Vishesh Sandeeprao Pachghare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6. Ayush Rupesh Dongre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7. Nishant Sudhir Thakare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8. Janhavi Gopal Hire</a:t>
            </a:r>
          </a:p>
          <a:p>
            <a:r>
              <a:rPr sz="1200">
                <a:solidFill>
                  <a:srgbClr val="242934"/>
                </a:solidFill>
                <a:latin typeface="Segoe UI"/>
              </a:rPr>
              <a:t>9. Vaishnavi Ramesh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A61926"/>
                </a:solidFill>
                <a:latin typeface="Georgia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